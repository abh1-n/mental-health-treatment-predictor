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489"/>
    <a:srgbClr val="AFA9EC"/>
    <a:srgbClr val="7F77DD"/>
    <a:srgbClr val="FAEEDA"/>
    <a:srgbClr val="633806"/>
    <a:srgbClr val="5DCAA5"/>
    <a:srgbClr val="1D9E75"/>
    <a:srgbClr val="F8F8F6"/>
    <a:srgbClr val="E1F5EE"/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D696-4F52-F355-7D6E-6AC1B4050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112D0-C775-7DA1-C74F-9A7842297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D0031-A39A-5E41-9588-FD86DE98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C2E3F-245C-9483-D83F-DCB54FEE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F2579-5ED6-BA80-DC7F-C0D28279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30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7071-AFEA-6E7F-9702-261A04E12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06597-A266-94CA-9E03-458BD3AEB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7260A-AF25-E6D0-C883-01EA140D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146CE-944D-ADD0-1AAE-4F5D6FB9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4C9A2-BB9C-67DA-3ED0-1005B52F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43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9A79-A625-5CA7-D4A8-DDC76DF0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9DA70-4687-78F9-1390-00AC3CF35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3E1B4-ACDB-F541-81CF-141E95BD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22306-6758-0B51-9898-38C43DDD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90AE1-7CB2-5932-383C-FD28B779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10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2F93-FEBF-C0E7-D57C-4AF568F1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4E30D-3595-929F-28B4-587E3BBB5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F7BFC-4626-DA4A-0A79-AB374A0B5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2F2FC-3193-B984-A0FF-0B50229B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8CACD-EB83-C08F-1D74-FE2C54C0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0B2CC-E02E-9C58-73CD-07CB8FE9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96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4033-42AF-DB2A-5782-5029F872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E53DE-821F-6948-63F4-925CE554B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00F35-A914-66AF-299D-CEAA6B05F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6981F-1C9E-DAC9-9A5D-2DD5805C4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9DC03-A29E-918E-AD15-D51A4C0A53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E0C2E7-8776-E0F8-9DCD-7B2B623B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18C59-A508-5CCB-B696-CEEF3F1B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5BD63D-5E8F-7864-93EC-5C385425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39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8B11-E9AF-1E76-068D-90CC5F0ED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90E14-6093-15B4-7FDC-E2205E2D0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E4999-D3AA-06E6-8250-69BDEBD7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5EE88-8833-ACDB-EF87-4240DA9E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06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55BAD-13EA-0795-F53E-92FFB563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18A39-D962-0B07-CA87-AF651F31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61834-4271-0E3C-4650-ACEA15B0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21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6D5B-3C5F-49EA-ADFD-CCC6F895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C6934-29F0-10C9-D121-250BAF5A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897BD-0F3F-4E68-75A2-36C01D26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15F5B-5FA8-75C6-000E-CB40602B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D3FFE-3F10-AEAB-FD2D-B7412458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064EE-8F74-5667-462B-0A95E18B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79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32BE-9569-804D-BFBB-5E535288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58D73-DA6E-965A-7E81-48AC8A074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78E26-3F7E-3602-C0E3-678F14620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569C9-C6C7-74F8-6A47-87A55E6F9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27061-7085-6986-46A4-A1558B2C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1E662-4F9D-8118-1F94-F066938E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6D58-27FC-9B30-4213-E1E4468B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192CA-4BB3-BF07-B6A0-46178AD9A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80A2E-6A63-F309-E125-68A55BA3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71F46-4BEF-B3C1-8FDA-2B142AC3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E1711-4C29-164F-B88C-F05073FC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52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0E3A78-0875-5160-0411-81C880EF1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E0363-3177-575E-DDB6-7579F7EC3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5C2B1-5F4C-60C3-12E9-7A8B06F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16C3-01E4-D4B2-9327-E111AFFB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F3229-85B1-05EF-83BC-55EDE08E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4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FB8E6-C3BB-A283-3970-3551CC61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AB8A3-BF9C-8D15-59A4-1E669AF20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FBCB-7A12-8D91-AD76-1CA35FF96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9CB7C-B260-489B-BA99-500DE2E4C0E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41918-70AD-228E-C5E1-8FC67D3E7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CE628-8C94-1615-D7AD-D7FEF1A8F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536AC-EABF-476E-8C9A-11DBE0B90A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9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0A8859-2D92-13D9-60EF-1343BB004E13}"/>
              </a:ext>
            </a:extLst>
          </p:cNvPr>
          <p:cNvSpPr txBox="1"/>
          <p:nvPr/>
        </p:nvSpPr>
        <p:spPr>
          <a:xfrm>
            <a:off x="555514" y="1722693"/>
            <a:ext cx="5810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MENTAL HEALTH TREATMENT PREDICTOR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18820-29F9-B0A3-1F5E-5BA2B00149A0}"/>
              </a:ext>
            </a:extLst>
          </p:cNvPr>
          <p:cNvSpPr txBox="1"/>
          <p:nvPr/>
        </p:nvSpPr>
        <p:spPr>
          <a:xfrm>
            <a:off x="555513" y="4751848"/>
            <a:ext cx="541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alpha val="60000"/>
                  </a:schemeClr>
                </a:solidFill>
              </a:rPr>
              <a:t>Abhin Ashok • Data Analytics • Zoople Technologies</a:t>
            </a:r>
            <a:endParaRPr lang="en-IN" sz="1400" dirty="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35993-8C59-84F8-DBDC-382D6F0CEC39}"/>
              </a:ext>
            </a:extLst>
          </p:cNvPr>
          <p:cNvSpPr txBox="1"/>
          <p:nvPr/>
        </p:nvSpPr>
        <p:spPr>
          <a:xfrm>
            <a:off x="555513" y="3052788"/>
            <a:ext cx="5412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alpha val="50000"/>
                  </a:schemeClr>
                </a:solidFill>
              </a:rPr>
              <a:t>Predicting Treatment-Seeking Behaviour in Tech Industry Workers</a:t>
            </a:r>
            <a:endParaRPr lang="en-IN" sz="200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C4774-0448-ABDC-5F6E-D4108285C556}"/>
              </a:ext>
            </a:extLst>
          </p:cNvPr>
          <p:cNvSpPr txBox="1"/>
          <p:nvPr/>
        </p:nvSpPr>
        <p:spPr>
          <a:xfrm>
            <a:off x="555514" y="3890440"/>
            <a:ext cx="526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Dataset: OSMI Mental Health in Tech Survey 2014</a:t>
            </a:r>
          </a:p>
          <a:p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Model: Random Forest Classifier</a:t>
            </a:r>
            <a:endParaRPr lang="en-IN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43572C-04E6-A907-B6AB-FD87603A7462}"/>
              </a:ext>
            </a:extLst>
          </p:cNvPr>
          <p:cNvSpPr txBox="1"/>
          <p:nvPr/>
        </p:nvSpPr>
        <p:spPr>
          <a:xfrm>
            <a:off x="555514" y="1353361"/>
            <a:ext cx="4778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FA9EC"/>
                </a:solidFill>
              </a:rPr>
              <a:t>CAPSTONE PROJECT • 2026</a:t>
            </a:r>
            <a:endParaRPr lang="en-IN" dirty="0">
              <a:solidFill>
                <a:srgbClr val="AFA9EC"/>
              </a:solidFill>
            </a:endParaRPr>
          </a:p>
        </p:txBody>
      </p:sp>
      <p:sp>
        <p:nvSpPr>
          <p:cNvPr id="15" name="Teardrop 14">
            <a:extLst>
              <a:ext uri="{FF2B5EF4-FFF2-40B4-BE49-F238E27FC236}">
                <a16:creationId xmlns:a16="http://schemas.microsoft.com/office/drawing/2014/main" id="{D60B9F4E-1E8E-BC49-D871-1BD855F2819A}"/>
              </a:ext>
            </a:extLst>
          </p:cNvPr>
          <p:cNvSpPr/>
          <p:nvPr/>
        </p:nvSpPr>
        <p:spPr>
          <a:xfrm>
            <a:off x="10068233" y="-2"/>
            <a:ext cx="2123768" cy="1986117"/>
          </a:xfrm>
          <a:prstGeom prst="teardrop">
            <a:avLst/>
          </a:prstGeom>
          <a:solidFill>
            <a:srgbClr val="7F77D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37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4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65939A-5D4F-FAC4-771D-E8C688430C84}"/>
              </a:ext>
            </a:extLst>
          </p:cNvPr>
          <p:cNvSpPr txBox="1"/>
          <p:nvPr/>
        </p:nvSpPr>
        <p:spPr>
          <a:xfrm>
            <a:off x="929843" y="1062110"/>
            <a:ext cx="4080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FA9EC"/>
                </a:solidFill>
              </a:rPr>
              <a:t>THE PROBLEM</a:t>
            </a:r>
            <a:endParaRPr lang="en-IN" sz="2400" dirty="0">
              <a:solidFill>
                <a:srgbClr val="AFA9E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01A9D-9C83-D724-EB3E-3E96E9C20908}"/>
              </a:ext>
            </a:extLst>
          </p:cNvPr>
          <p:cNvSpPr txBox="1"/>
          <p:nvPr/>
        </p:nvSpPr>
        <p:spPr>
          <a:xfrm>
            <a:off x="929843" y="3855380"/>
            <a:ext cx="5883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r>
              <a:rPr lang="en-US" sz="2000" dirty="0">
                <a:solidFill>
                  <a:srgbClr val="5DCAA5"/>
                </a:solidFill>
              </a:rPr>
              <a:t>THE QUESTION THIS PROJECT ANSWERS:</a:t>
            </a:r>
          </a:p>
          <a:p>
            <a:r>
              <a:rPr lang="en-US" sz="2000" dirty="0">
                <a:solidFill>
                  <a:schemeClr val="bg1"/>
                </a:solidFill>
              </a:rPr>
              <a:t>Can Machine Learning identify which individuals are likely to seek mental health treatment – based solely on their workplace and personal background.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4FDD2-3C84-82C5-58DB-F809473FDABA}"/>
              </a:ext>
            </a:extLst>
          </p:cNvPr>
          <p:cNvSpPr txBox="1"/>
          <p:nvPr/>
        </p:nvSpPr>
        <p:spPr>
          <a:xfrm>
            <a:off x="929843" y="1523775"/>
            <a:ext cx="5883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Mental Health conditions affect 1 in 5 tech workers globally – yet the majority never seek treatment.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444210-1CB8-72BA-C0ED-F109FDC86C84}"/>
              </a:ext>
            </a:extLst>
          </p:cNvPr>
          <p:cNvSpPr txBox="1"/>
          <p:nvPr/>
        </p:nvSpPr>
        <p:spPr>
          <a:xfrm>
            <a:off x="929843" y="3070153"/>
            <a:ext cx="5883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alpha val="40000"/>
                  </a:schemeClr>
                </a:solidFill>
              </a:rPr>
              <a:t>Why? Stigma, lack of awareness, fear of workplace consequences, and no visibility into who needs help most.</a:t>
            </a:r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02901060-A3FD-24A7-9A0F-C7F5D7E2B8DD}"/>
              </a:ext>
            </a:extLst>
          </p:cNvPr>
          <p:cNvSpPr/>
          <p:nvPr/>
        </p:nvSpPr>
        <p:spPr>
          <a:xfrm>
            <a:off x="10235381" y="0"/>
            <a:ext cx="1956619" cy="1938992"/>
          </a:xfrm>
          <a:prstGeom prst="teardrop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47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1B5C93-2523-D9B6-8776-A36CDA07D88E}"/>
              </a:ext>
            </a:extLst>
          </p:cNvPr>
          <p:cNvSpPr/>
          <p:nvPr/>
        </p:nvSpPr>
        <p:spPr>
          <a:xfrm>
            <a:off x="776747" y="831746"/>
            <a:ext cx="1297859" cy="45719"/>
          </a:xfrm>
          <a:prstGeom prst="roundRect">
            <a:avLst/>
          </a:prstGeom>
          <a:ln w="38100">
            <a:solidFill>
              <a:srgbClr val="3C34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5B226-FE6C-7A63-389C-2171A7C515F8}"/>
              </a:ext>
            </a:extLst>
          </p:cNvPr>
          <p:cNvSpPr txBox="1"/>
          <p:nvPr/>
        </p:nvSpPr>
        <p:spPr>
          <a:xfrm>
            <a:off x="678424" y="1174579"/>
            <a:ext cx="2054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A1A2E"/>
                </a:solidFill>
              </a:rPr>
              <a:t>DATA CLEANING</a:t>
            </a:r>
            <a:endParaRPr lang="en-IN" sz="2000" dirty="0">
              <a:solidFill>
                <a:srgbClr val="1A1A2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B3D75-F6AF-DEF2-3E46-5012113A632F}"/>
              </a:ext>
            </a:extLst>
          </p:cNvPr>
          <p:cNvSpPr txBox="1"/>
          <p:nvPr/>
        </p:nvSpPr>
        <p:spPr>
          <a:xfrm>
            <a:off x="678424" y="2010388"/>
            <a:ext cx="11169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C3489"/>
                </a:solidFill>
              </a:rPr>
              <a:t>Age Column:                   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Entries ranged from -1726 to 99,999,999,999 → kept only realistic working ages 18-75  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68920-F632-327E-DD7B-060E6DCE3534}"/>
              </a:ext>
            </a:extLst>
          </p:cNvPr>
          <p:cNvSpPr txBox="1"/>
          <p:nvPr/>
        </p:nvSpPr>
        <p:spPr>
          <a:xfrm>
            <a:off x="678424" y="2719694"/>
            <a:ext cx="1022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C3489"/>
                </a:solidFill>
              </a:rPr>
              <a:t>Gender Column:           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49 messy free-text entries → consolidated Male(974)/Female(240)/Other(37)</a:t>
            </a:r>
            <a:endParaRPr lang="en-IN" b="1" dirty="0">
              <a:solidFill>
                <a:srgbClr val="3C348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24F45-18FB-3385-20C3-E71DA60878CA}"/>
              </a:ext>
            </a:extLst>
          </p:cNvPr>
          <p:cNvSpPr txBox="1"/>
          <p:nvPr/>
        </p:nvSpPr>
        <p:spPr>
          <a:xfrm>
            <a:off x="678424" y="3429000"/>
            <a:ext cx="6988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C3489"/>
                </a:solidFill>
              </a:rPr>
              <a:t>Missing Value:               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work_interfere blanks → filled with “Never” 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A50946-632E-13C7-1041-AF7838CC0D8A}"/>
              </a:ext>
            </a:extLst>
          </p:cNvPr>
          <p:cNvSpPr txBox="1"/>
          <p:nvPr/>
        </p:nvSpPr>
        <p:spPr>
          <a:xfrm>
            <a:off x="678424" y="4138306"/>
            <a:ext cx="947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C3489"/>
                </a:solidFill>
              </a:rPr>
              <a:t>Encoding:                          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All text categories → converted to integer values using LabelEncoder</a:t>
            </a:r>
            <a:endParaRPr lang="en-IN" b="1" dirty="0">
              <a:solidFill>
                <a:srgbClr val="3C3489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331778-9600-1439-1FF0-6E2740BF0811}"/>
              </a:ext>
            </a:extLst>
          </p:cNvPr>
          <p:cNvGrpSpPr/>
          <p:nvPr/>
        </p:nvGrpSpPr>
        <p:grpSpPr>
          <a:xfrm>
            <a:off x="1882877" y="4794918"/>
            <a:ext cx="8426245" cy="1524000"/>
            <a:chOff x="2930012" y="4794918"/>
            <a:chExt cx="8426245" cy="1524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2B6CA66-2A40-63D6-2F24-65F8BA5BC31F}"/>
                </a:ext>
              </a:extLst>
            </p:cNvPr>
            <p:cNvSpPr/>
            <p:nvPr/>
          </p:nvSpPr>
          <p:spPr>
            <a:xfrm>
              <a:off x="2930012" y="4794918"/>
              <a:ext cx="8426245" cy="1524000"/>
            </a:xfrm>
            <a:prstGeom prst="roundRect">
              <a:avLst/>
            </a:prstGeom>
            <a:solidFill>
              <a:srgbClr val="E1F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46F28E-95E8-D64C-E7FD-CE9A91763281}"/>
                </a:ext>
              </a:extLst>
            </p:cNvPr>
            <p:cNvSpPr txBox="1"/>
            <p:nvPr/>
          </p:nvSpPr>
          <p:spPr>
            <a:xfrm>
              <a:off x="3927985" y="5372252"/>
              <a:ext cx="6430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1D9E75"/>
                  </a:solidFill>
                </a:rPr>
                <a:t>Final Clean Dataset: 1,251 rows • 26 features • 0 missing values</a:t>
              </a:r>
              <a:endParaRPr lang="en-IN" dirty="0">
                <a:solidFill>
                  <a:srgbClr val="1D9E7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702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3EFA8-1AE7-42EC-9BF7-403C1749BCD7}"/>
              </a:ext>
            </a:extLst>
          </p:cNvPr>
          <p:cNvSpPr txBox="1"/>
          <p:nvPr/>
        </p:nvSpPr>
        <p:spPr>
          <a:xfrm>
            <a:off x="904568" y="563849"/>
            <a:ext cx="1710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A1A2E"/>
                </a:solidFill>
              </a:rPr>
              <a:t>THE DATASET</a:t>
            </a:r>
            <a:endParaRPr lang="en-IN" sz="2000" dirty="0">
              <a:solidFill>
                <a:srgbClr val="1A1A2E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775A2F-973E-5AC7-F85E-DFD059C64123}"/>
              </a:ext>
            </a:extLst>
          </p:cNvPr>
          <p:cNvSpPr/>
          <p:nvPr/>
        </p:nvSpPr>
        <p:spPr>
          <a:xfrm>
            <a:off x="1000645" y="409976"/>
            <a:ext cx="995303" cy="45719"/>
          </a:xfrm>
          <a:prstGeom prst="rect">
            <a:avLst/>
          </a:prstGeom>
          <a:ln w="38100">
            <a:solidFill>
              <a:srgbClr val="3C34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6BBF1-19CD-6D6D-441C-2D0FB7F6B533}"/>
              </a:ext>
            </a:extLst>
          </p:cNvPr>
          <p:cNvSpPr txBox="1"/>
          <p:nvPr/>
        </p:nvSpPr>
        <p:spPr>
          <a:xfrm>
            <a:off x="904567" y="1072113"/>
            <a:ext cx="4694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</a:rPr>
              <a:t>OSMI Mental Health in Tech Survey – 2014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</a:rPr>
              <a:t>The largest mental health survey in the tech industry conducted.</a:t>
            </a:r>
            <a:endParaRPr lang="en-IN" dirty="0">
              <a:solidFill>
                <a:srgbClr val="1A1A2E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044E8D-FA8B-FAEB-091B-A149CDDBC597}"/>
              </a:ext>
            </a:extLst>
          </p:cNvPr>
          <p:cNvGrpSpPr/>
          <p:nvPr/>
        </p:nvGrpSpPr>
        <p:grpSpPr>
          <a:xfrm>
            <a:off x="378542" y="2292319"/>
            <a:ext cx="3529780" cy="1750142"/>
            <a:chOff x="5810865" y="2694039"/>
            <a:chExt cx="3529780" cy="175014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997134D-3681-6902-E42A-C1ABCB5C8241}"/>
                </a:ext>
              </a:extLst>
            </p:cNvPr>
            <p:cNvSpPr/>
            <p:nvPr/>
          </p:nvSpPr>
          <p:spPr>
            <a:xfrm>
              <a:off x="5810865" y="2694039"/>
              <a:ext cx="3529780" cy="1750142"/>
            </a:xfrm>
            <a:prstGeom prst="roundRect">
              <a:avLst/>
            </a:prstGeom>
            <a:solidFill>
              <a:srgbClr val="AFA9E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5558E-44B3-5E7D-2732-6F092AA3E0D9}"/>
                </a:ext>
              </a:extLst>
            </p:cNvPr>
            <p:cNvSpPr txBox="1"/>
            <p:nvPr/>
          </p:nvSpPr>
          <p:spPr>
            <a:xfrm>
              <a:off x="6140243" y="3237023"/>
              <a:ext cx="28710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3C3489"/>
                  </a:solidFill>
                </a:rPr>
                <a:t>1,257</a:t>
              </a:r>
              <a:endParaRPr lang="en-IN" sz="2800" dirty="0">
                <a:solidFill>
                  <a:srgbClr val="3C3489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41D68D-0C9A-F17B-21D7-8F40633236BD}"/>
                </a:ext>
              </a:extLst>
            </p:cNvPr>
            <p:cNvSpPr txBox="1"/>
            <p:nvPr/>
          </p:nvSpPr>
          <p:spPr>
            <a:xfrm>
              <a:off x="5997676" y="3843804"/>
              <a:ext cx="3156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F77DD"/>
                  </a:solidFill>
                </a:rPr>
                <a:t>survey respondents globally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19C306-5867-3470-6BC9-5956D3B0AC5A}"/>
              </a:ext>
            </a:extLst>
          </p:cNvPr>
          <p:cNvGrpSpPr/>
          <p:nvPr/>
        </p:nvGrpSpPr>
        <p:grpSpPr>
          <a:xfrm>
            <a:off x="4284406" y="2292319"/>
            <a:ext cx="3623188" cy="1750142"/>
            <a:chOff x="4456470" y="2553929"/>
            <a:chExt cx="3623188" cy="175014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63F650A-9B88-54EE-AC65-86B49153C9AA}"/>
                </a:ext>
              </a:extLst>
            </p:cNvPr>
            <p:cNvSpPr/>
            <p:nvPr/>
          </p:nvSpPr>
          <p:spPr>
            <a:xfrm>
              <a:off x="4503175" y="2553929"/>
              <a:ext cx="3529780" cy="1750142"/>
            </a:xfrm>
            <a:prstGeom prst="roundRect">
              <a:avLst/>
            </a:prstGeom>
            <a:solidFill>
              <a:srgbClr val="AFA9E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841B1C-2E6C-4668-54DB-8557C077E3A8}"/>
                </a:ext>
              </a:extLst>
            </p:cNvPr>
            <p:cNvSpPr txBox="1"/>
            <p:nvPr/>
          </p:nvSpPr>
          <p:spPr>
            <a:xfrm>
              <a:off x="5599471" y="3167390"/>
              <a:ext cx="13371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3C3489"/>
                  </a:solidFill>
                </a:rPr>
                <a:t>27</a:t>
              </a:r>
              <a:endParaRPr lang="en-IN" sz="2800" dirty="0">
                <a:solidFill>
                  <a:srgbClr val="3C3489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DD99D39-38F7-467F-C977-9382BFCE00F3}"/>
                </a:ext>
              </a:extLst>
            </p:cNvPr>
            <p:cNvSpPr txBox="1"/>
            <p:nvPr/>
          </p:nvSpPr>
          <p:spPr>
            <a:xfrm>
              <a:off x="4456470" y="3690610"/>
              <a:ext cx="36231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F77DD"/>
                  </a:solidFill>
                </a:rPr>
                <a:t>features recorded per respondent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412D67-925E-B8B3-FD25-2E4A56118E44}"/>
              </a:ext>
            </a:extLst>
          </p:cNvPr>
          <p:cNvGrpSpPr/>
          <p:nvPr/>
        </p:nvGrpSpPr>
        <p:grpSpPr>
          <a:xfrm>
            <a:off x="378542" y="4247261"/>
            <a:ext cx="3529780" cy="1750142"/>
            <a:chOff x="8096867" y="2292319"/>
            <a:chExt cx="3529780" cy="175014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1972235-74BE-F810-45DF-3617C8EB4B4A}"/>
                </a:ext>
              </a:extLst>
            </p:cNvPr>
            <p:cNvSpPr/>
            <p:nvPr/>
          </p:nvSpPr>
          <p:spPr>
            <a:xfrm>
              <a:off x="8096867" y="2292319"/>
              <a:ext cx="3529780" cy="1750142"/>
            </a:xfrm>
            <a:prstGeom prst="roundRect">
              <a:avLst/>
            </a:prstGeom>
            <a:solidFill>
              <a:srgbClr val="AFA9E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C76FE9-69F1-6CED-A451-9AB671A14777}"/>
                </a:ext>
              </a:extLst>
            </p:cNvPr>
            <p:cNvSpPr txBox="1"/>
            <p:nvPr/>
          </p:nvSpPr>
          <p:spPr>
            <a:xfrm>
              <a:off x="8470490" y="2835303"/>
              <a:ext cx="27825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3C3489"/>
                  </a:solidFill>
                </a:rPr>
                <a:t>26</a:t>
              </a:r>
              <a:endParaRPr lang="en-IN" sz="2800" dirty="0">
                <a:solidFill>
                  <a:srgbClr val="3C3489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26EA7C-7A8C-1BDE-2F4B-B299C44D2505}"/>
                </a:ext>
              </a:extLst>
            </p:cNvPr>
            <p:cNvSpPr txBox="1"/>
            <p:nvPr/>
          </p:nvSpPr>
          <p:spPr>
            <a:xfrm>
              <a:off x="8780207" y="3442084"/>
              <a:ext cx="2163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F77DD"/>
                  </a:solidFill>
                </a:rPr>
                <a:t>predictor features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62129A-90EB-3FF8-2169-FCBCED2239DF}"/>
              </a:ext>
            </a:extLst>
          </p:cNvPr>
          <p:cNvGrpSpPr/>
          <p:nvPr/>
        </p:nvGrpSpPr>
        <p:grpSpPr>
          <a:xfrm>
            <a:off x="4011561" y="4247261"/>
            <a:ext cx="4168878" cy="1750142"/>
            <a:chOff x="162233" y="4412522"/>
            <a:chExt cx="4168878" cy="175014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7ADAC40-AE62-3B18-7BEF-317BADC84C39}"/>
                </a:ext>
              </a:extLst>
            </p:cNvPr>
            <p:cNvSpPr/>
            <p:nvPr/>
          </p:nvSpPr>
          <p:spPr>
            <a:xfrm>
              <a:off x="481785" y="4412522"/>
              <a:ext cx="3529780" cy="1750142"/>
            </a:xfrm>
            <a:prstGeom prst="roundRect">
              <a:avLst/>
            </a:prstGeom>
            <a:solidFill>
              <a:srgbClr val="AFA9E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3A8BF9-BFA6-4C69-A90A-B973EB287FA1}"/>
                </a:ext>
              </a:extLst>
            </p:cNvPr>
            <p:cNvSpPr txBox="1"/>
            <p:nvPr/>
          </p:nvSpPr>
          <p:spPr>
            <a:xfrm>
              <a:off x="1000645" y="5025983"/>
              <a:ext cx="23892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3C3489"/>
                  </a:solidFill>
                </a:rPr>
                <a:t>1</a:t>
              </a:r>
              <a:endParaRPr lang="en-IN" sz="2800" dirty="0">
                <a:solidFill>
                  <a:srgbClr val="3C3489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63F46B-C376-C97F-B57F-178F8A7D1AFC}"/>
                </a:ext>
              </a:extLst>
            </p:cNvPr>
            <p:cNvSpPr txBox="1"/>
            <p:nvPr/>
          </p:nvSpPr>
          <p:spPr>
            <a:xfrm>
              <a:off x="162233" y="5549203"/>
              <a:ext cx="4168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F77DD"/>
                  </a:solidFill>
                </a:rPr>
                <a:t>target variable – treatment (Yes/No)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0562EBA-95A0-3BD0-DCEA-DA5B1A052319}"/>
              </a:ext>
            </a:extLst>
          </p:cNvPr>
          <p:cNvGrpSpPr/>
          <p:nvPr/>
        </p:nvGrpSpPr>
        <p:grpSpPr>
          <a:xfrm>
            <a:off x="8330383" y="2292320"/>
            <a:ext cx="3529780" cy="1750142"/>
            <a:chOff x="4331112" y="4225708"/>
            <a:chExt cx="3529780" cy="175014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6B40104-AF71-59F3-77AB-142BB2A489A3}"/>
                </a:ext>
              </a:extLst>
            </p:cNvPr>
            <p:cNvSpPr/>
            <p:nvPr/>
          </p:nvSpPr>
          <p:spPr>
            <a:xfrm>
              <a:off x="4331112" y="4225708"/>
              <a:ext cx="3529780" cy="1750142"/>
            </a:xfrm>
            <a:prstGeom prst="roundRect">
              <a:avLst/>
            </a:prstGeom>
            <a:solidFill>
              <a:srgbClr val="E1F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6AB8F22-59C3-CCF1-5A5B-7419FB160626}"/>
                </a:ext>
              </a:extLst>
            </p:cNvPr>
            <p:cNvSpPr txBox="1"/>
            <p:nvPr/>
          </p:nvSpPr>
          <p:spPr>
            <a:xfrm>
              <a:off x="4461389" y="4518094"/>
              <a:ext cx="32692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1D9E75"/>
                  </a:solidFill>
                </a:rPr>
                <a:t>Target Variable Balance</a:t>
              </a:r>
              <a:endParaRPr lang="en-IN" sz="2400" dirty="0">
                <a:solidFill>
                  <a:srgbClr val="1D9E75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329C20-B9E9-6DFC-F9C7-87C8D19A7DFD}"/>
                </a:ext>
              </a:extLst>
            </p:cNvPr>
            <p:cNvSpPr txBox="1"/>
            <p:nvPr/>
          </p:nvSpPr>
          <p:spPr>
            <a:xfrm>
              <a:off x="4581831" y="5039223"/>
              <a:ext cx="32790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5DCAA5"/>
                  </a:solidFill>
                </a:rPr>
                <a:t>Treatment Sought: 637 (50.6%)</a:t>
              </a:r>
            </a:p>
            <a:p>
              <a:r>
                <a:rPr lang="en-US" dirty="0">
                  <a:solidFill>
                    <a:srgbClr val="5DCAA5"/>
                  </a:solidFill>
                </a:rPr>
                <a:t>Did Not Seek: 622 (49.4%)</a:t>
              </a:r>
              <a:endParaRPr lang="en-IN" dirty="0">
                <a:solidFill>
                  <a:srgbClr val="5DCAA5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806A38-CD1B-893B-E524-1AE28012D3E1}"/>
              </a:ext>
            </a:extLst>
          </p:cNvPr>
          <p:cNvGrpSpPr/>
          <p:nvPr/>
        </p:nvGrpSpPr>
        <p:grpSpPr>
          <a:xfrm>
            <a:off x="8330382" y="4247261"/>
            <a:ext cx="3566649" cy="1750142"/>
            <a:chOff x="8330382" y="4247261"/>
            <a:chExt cx="3566649" cy="1750142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A2E88E0-CAE5-BA3C-133D-053C5F1563A9}"/>
                </a:ext>
              </a:extLst>
            </p:cNvPr>
            <p:cNvSpPr/>
            <p:nvPr/>
          </p:nvSpPr>
          <p:spPr>
            <a:xfrm>
              <a:off x="8330382" y="4247261"/>
              <a:ext cx="3529780" cy="1750142"/>
            </a:xfrm>
            <a:prstGeom prst="roundRect">
              <a:avLst/>
            </a:prstGeom>
            <a:solidFill>
              <a:srgbClr val="E1F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920396-BD8E-929F-3695-B3512667FE80}"/>
                </a:ext>
              </a:extLst>
            </p:cNvPr>
            <p:cNvSpPr txBox="1"/>
            <p:nvPr/>
          </p:nvSpPr>
          <p:spPr>
            <a:xfrm>
              <a:off x="8544233" y="4645278"/>
              <a:ext cx="335279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5DCAA5"/>
                  </a:solidFill>
                </a:rPr>
                <a:t>A perfectly balanced dataset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5DCAA5"/>
                  </a:solidFill>
                </a:rPr>
                <a:t>No class imbalance issues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5DCAA5"/>
                  </a:solidFill>
                </a:rPr>
                <a:t>Model results are reliable</a:t>
              </a:r>
              <a:endParaRPr lang="en-IN" dirty="0">
                <a:solidFill>
                  <a:srgbClr val="5DCAA5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D43B73-5328-FED5-D15A-32D534B43A90}"/>
              </a:ext>
            </a:extLst>
          </p:cNvPr>
          <p:cNvCxnSpPr>
            <a:cxnSpLocks/>
          </p:cNvCxnSpPr>
          <p:nvPr/>
        </p:nvCxnSpPr>
        <p:spPr>
          <a:xfrm>
            <a:off x="8101781" y="1858297"/>
            <a:ext cx="0" cy="4581832"/>
          </a:xfrm>
          <a:prstGeom prst="line">
            <a:avLst/>
          </a:prstGeom>
          <a:ln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36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E017B1-118E-E8F6-B5DF-B67F94502D8C}"/>
              </a:ext>
            </a:extLst>
          </p:cNvPr>
          <p:cNvSpPr txBox="1"/>
          <p:nvPr/>
        </p:nvSpPr>
        <p:spPr>
          <a:xfrm>
            <a:off x="707922" y="658761"/>
            <a:ext cx="6086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KEY FINDINGS FROM EXPLORATORY ANALYSIS</a:t>
            </a:r>
            <a:endParaRPr lang="en-IN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7FF097-7718-D1FC-E612-53129BBD32A1}"/>
              </a:ext>
            </a:extLst>
          </p:cNvPr>
          <p:cNvSpPr/>
          <p:nvPr/>
        </p:nvSpPr>
        <p:spPr>
          <a:xfrm>
            <a:off x="835742" y="432620"/>
            <a:ext cx="1440000" cy="28800"/>
          </a:xfrm>
          <a:prstGeom prst="roundRect">
            <a:avLst/>
          </a:prstGeom>
          <a:ln w="38100">
            <a:solidFill>
              <a:srgbClr val="3C34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05CDCC-09E9-E3FD-FCDB-D99157538184}"/>
              </a:ext>
            </a:extLst>
          </p:cNvPr>
          <p:cNvGrpSpPr/>
          <p:nvPr/>
        </p:nvGrpSpPr>
        <p:grpSpPr>
          <a:xfrm>
            <a:off x="1238864" y="5243522"/>
            <a:ext cx="4562168" cy="1410478"/>
            <a:chOff x="1238864" y="5243522"/>
            <a:chExt cx="4562168" cy="141047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6557083-21A8-369B-2FCD-8D3AFA7A74B8}"/>
                </a:ext>
              </a:extLst>
            </p:cNvPr>
            <p:cNvSpPr/>
            <p:nvPr/>
          </p:nvSpPr>
          <p:spPr>
            <a:xfrm>
              <a:off x="1322438" y="5243522"/>
              <a:ext cx="4395020" cy="1410478"/>
            </a:xfrm>
            <a:prstGeom prst="roundRect">
              <a:avLst/>
            </a:prstGeom>
            <a:solidFill>
              <a:srgbClr val="AFA9EC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650BD7-6789-B714-6558-CEAE37F57DE2}"/>
                </a:ext>
              </a:extLst>
            </p:cNvPr>
            <p:cNvSpPr txBox="1"/>
            <p:nvPr/>
          </p:nvSpPr>
          <p:spPr>
            <a:xfrm>
              <a:off x="1238864" y="5368413"/>
              <a:ext cx="45621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F77DD"/>
                  </a:solidFill>
                </a:rPr>
                <a:t>As work interference increases from Never to Often, the proportion seeking treatment rises sharply – suggesting it as a strong predictor.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4EA6BB-6FD1-F42E-E833-B5A74CC8C7BB}"/>
              </a:ext>
            </a:extLst>
          </p:cNvPr>
          <p:cNvCxnSpPr/>
          <p:nvPr/>
        </p:nvCxnSpPr>
        <p:spPr>
          <a:xfrm>
            <a:off x="6786715" y="432620"/>
            <a:ext cx="49161" cy="6064065"/>
          </a:xfrm>
          <a:prstGeom prst="line">
            <a:avLst/>
          </a:prstGeom>
          <a:ln w="22225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0A514FC-BCF0-0F70-9113-7EE5F0659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07" y="1154201"/>
            <a:ext cx="5730882" cy="39675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BD8C4D-5D25-7920-037B-41870537E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734" y="1154201"/>
            <a:ext cx="4981452" cy="396753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75A8F5D-BB13-77E0-7A9A-3D2FB32707A5}"/>
              </a:ext>
            </a:extLst>
          </p:cNvPr>
          <p:cNvGrpSpPr/>
          <p:nvPr/>
        </p:nvGrpSpPr>
        <p:grpSpPr>
          <a:xfrm>
            <a:off x="7118555" y="5243523"/>
            <a:ext cx="4761270" cy="1410478"/>
            <a:chOff x="7118555" y="5243523"/>
            <a:chExt cx="4761270" cy="141047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120CAF8-818D-4433-B485-FFED1A546BFE}"/>
                </a:ext>
              </a:extLst>
            </p:cNvPr>
            <p:cNvSpPr/>
            <p:nvPr/>
          </p:nvSpPr>
          <p:spPr>
            <a:xfrm>
              <a:off x="7305368" y="5243523"/>
              <a:ext cx="4574457" cy="1410478"/>
            </a:xfrm>
            <a:prstGeom prst="roundRect">
              <a:avLst/>
            </a:prstGeom>
            <a:solidFill>
              <a:srgbClr val="5DCAA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ED6EA6-370D-92DD-3C86-7C207B272919}"/>
                </a:ext>
              </a:extLst>
            </p:cNvPr>
            <p:cNvSpPr txBox="1"/>
            <p:nvPr/>
          </p:nvSpPr>
          <p:spPr>
            <a:xfrm>
              <a:off x="7118555" y="5368413"/>
              <a:ext cx="47612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D9E75"/>
                  </a:solidFill>
                </a:rPr>
                <a:t>Individuals with a family history of mental illness are significantly more likely to seek treatment, indicating a strong hereditary awareness factor.</a:t>
              </a:r>
              <a:endParaRPr lang="en-IN" dirty="0">
                <a:solidFill>
                  <a:srgbClr val="1D9E7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283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7559AF-AF20-A89E-1728-97E6D6C6761E}"/>
              </a:ext>
            </a:extLst>
          </p:cNvPr>
          <p:cNvSpPr txBox="1"/>
          <p:nvPr/>
        </p:nvSpPr>
        <p:spPr>
          <a:xfrm>
            <a:off x="688257" y="580103"/>
            <a:ext cx="523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MODEL – RANDOM FOREST CLASSIFIER </a:t>
            </a:r>
            <a:endParaRPr lang="en-IN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425011-4F78-15FC-2226-E679B7A5D4F2}"/>
              </a:ext>
            </a:extLst>
          </p:cNvPr>
          <p:cNvSpPr/>
          <p:nvPr/>
        </p:nvSpPr>
        <p:spPr>
          <a:xfrm>
            <a:off x="794167" y="429605"/>
            <a:ext cx="985472" cy="45719"/>
          </a:xfrm>
          <a:prstGeom prst="roundRect">
            <a:avLst/>
          </a:prstGeom>
          <a:ln w="38100">
            <a:solidFill>
              <a:srgbClr val="3C34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11855-D1E8-2785-B822-1F594C625BBB}"/>
              </a:ext>
            </a:extLst>
          </p:cNvPr>
          <p:cNvSpPr txBox="1"/>
          <p:nvPr/>
        </p:nvSpPr>
        <p:spPr>
          <a:xfrm>
            <a:off x="688256" y="1235312"/>
            <a:ext cx="400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F77DD"/>
                </a:solidFill>
              </a:rPr>
              <a:t>Why Random Forest Classifier?</a:t>
            </a:r>
            <a:endParaRPr lang="en-IN" dirty="0">
              <a:solidFill>
                <a:srgbClr val="7F77DD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6CE88F-72A1-5733-A9FA-617F2FE093CF}"/>
              </a:ext>
            </a:extLst>
          </p:cNvPr>
          <p:cNvGrpSpPr/>
          <p:nvPr/>
        </p:nvGrpSpPr>
        <p:grpSpPr>
          <a:xfrm>
            <a:off x="599768" y="1859743"/>
            <a:ext cx="5712542" cy="954395"/>
            <a:chOff x="599768" y="1528038"/>
            <a:chExt cx="5712542" cy="95439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407B6A7-DC3D-5BAE-BDD2-C9A0DC24D762}"/>
                </a:ext>
              </a:extLst>
            </p:cNvPr>
            <p:cNvSpPr/>
            <p:nvPr/>
          </p:nvSpPr>
          <p:spPr>
            <a:xfrm>
              <a:off x="599768" y="1559103"/>
              <a:ext cx="5712542" cy="923330"/>
            </a:xfrm>
            <a:prstGeom prst="roundRect">
              <a:avLst/>
            </a:prstGeom>
            <a:solidFill>
              <a:srgbClr val="AFA9EC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B20AFB-9DDA-A2BC-E195-ED649EBB3DD9}"/>
                </a:ext>
              </a:extLst>
            </p:cNvPr>
            <p:cNvSpPr txBox="1"/>
            <p:nvPr/>
          </p:nvSpPr>
          <p:spPr>
            <a:xfrm>
              <a:off x="688256" y="1528038"/>
              <a:ext cx="553780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F77DD"/>
                  </a:solidFill>
                </a:rPr>
                <a:t>A Random Forest builds 100 individual Decision Trees,  each trained on a random subset of the data.</a:t>
              </a:r>
            </a:p>
            <a:p>
              <a:r>
                <a:rPr lang="en-US" dirty="0">
                  <a:solidFill>
                    <a:srgbClr val="7F77DD"/>
                  </a:solidFill>
                </a:rPr>
                <a:t>Every tree casts a vote. The majority vote wins.  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14E60-44E0-E942-0A90-56944B7DBCBE}"/>
              </a:ext>
            </a:extLst>
          </p:cNvPr>
          <p:cNvGrpSpPr/>
          <p:nvPr/>
        </p:nvGrpSpPr>
        <p:grpSpPr>
          <a:xfrm>
            <a:off x="599768" y="3247343"/>
            <a:ext cx="5712542" cy="1593039"/>
            <a:chOff x="599768" y="2782529"/>
            <a:chExt cx="5712542" cy="159303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D51A38-F04B-B050-0BB1-26D864D25ECB}"/>
                </a:ext>
              </a:extLst>
            </p:cNvPr>
            <p:cNvSpPr/>
            <p:nvPr/>
          </p:nvSpPr>
          <p:spPr>
            <a:xfrm>
              <a:off x="599768" y="2782529"/>
              <a:ext cx="5712542" cy="1593039"/>
            </a:xfrm>
            <a:prstGeom prst="roundRect">
              <a:avLst/>
            </a:prstGeom>
            <a:solidFill>
              <a:srgbClr val="5DCAA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3AF0E1-90BA-6D15-CA17-64B7878F0EA7}"/>
                </a:ext>
              </a:extLst>
            </p:cNvPr>
            <p:cNvSpPr txBox="1"/>
            <p:nvPr/>
          </p:nvSpPr>
          <p:spPr>
            <a:xfrm>
              <a:off x="688256" y="2831690"/>
              <a:ext cx="562405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1D9E75"/>
                  </a:solidFill>
                </a:rPr>
                <a:t>This Approach:</a:t>
              </a:r>
              <a:endParaRPr lang="en-IN" dirty="0">
                <a:solidFill>
                  <a:srgbClr val="1D9E75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rgbClr val="1D9E75"/>
                  </a:solidFill>
                </a:rPr>
                <a:t>Corrects for individual tree errors.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rgbClr val="1D9E75"/>
                  </a:solidFill>
                </a:rPr>
                <a:t>Handles the encoded categorical features well.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rgbClr val="1D9E75"/>
                  </a:solidFill>
                </a:rPr>
                <a:t>Works optimally on balanced datasets.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rgbClr val="1D9E75"/>
                  </a:solidFill>
                </a:rPr>
                <a:t>Resists overfitting through ensemble voting.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54D862-0E59-5838-4C25-B02EA937E75F}"/>
              </a:ext>
            </a:extLst>
          </p:cNvPr>
          <p:cNvGrpSpPr/>
          <p:nvPr/>
        </p:nvGrpSpPr>
        <p:grpSpPr>
          <a:xfrm>
            <a:off x="6921910" y="2206557"/>
            <a:ext cx="4984955" cy="2444885"/>
            <a:chOff x="6823587" y="2005781"/>
            <a:chExt cx="4984955" cy="244488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D715452-6A13-7C05-E0D2-B5163E7C9D7B}"/>
                </a:ext>
              </a:extLst>
            </p:cNvPr>
            <p:cNvSpPr/>
            <p:nvPr/>
          </p:nvSpPr>
          <p:spPr>
            <a:xfrm>
              <a:off x="6823587" y="2005781"/>
              <a:ext cx="4719484" cy="2231922"/>
            </a:xfrm>
            <a:prstGeom prst="roundRect">
              <a:avLst/>
            </a:prstGeom>
            <a:solidFill>
              <a:srgbClr val="5DCAA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314EA0-A2C4-0DA0-834B-842A972AAEDF}"/>
                </a:ext>
              </a:extLst>
            </p:cNvPr>
            <p:cNvSpPr txBox="1"/>
            <p:nvPr/>
          </p:nvSpPr>
          <p:spPr>
            <a:xfrm>
              <a:off x="7089058" y="2142342"/>
              <a:ext cx="471948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1D9E75"/>
                  </a:solidFill>
                </a:rPr>
                <a:t>Model Configuration:</a:t>
              </a:r>
            </a:p>
            <a:p>
              <a:r>
                <a:rPr lang="en-US" dirty="0">
                  <a:solidFill>
                    <a:srgbClr val="1D9E75"/>
                  </a:solidFill>
                </a:rPr>
                <a:t>Algorithm             : Random Forest Classifier</a:t>
              </a:r>
            </a:p>
            <a:p>
              <a:r>
                <a:rPr lang="en-US" dirty="0">
                  <a:solidFill>
                    <a:srgbClr val="1D9E75"/>
                  </a:solidFill>
                </a:rPr>
                <a:t>Trees                       : 100</a:t>
              </a:r>
            </a:p>
            <a:p>
              <a:r>
                <a:rPr lang="en-US" dirty="0">
                  <a:solidFill>
                    <a:srgbClr val="1D9E75"/>
                  </a:solidFill>
                </a:rPr>
                <a:t>Max Depth           : 10</a:t>
              </a:r>
            </a:p>
            <a:p>
              <a:r>
                <a:rPr lang="en-US" dirty="0">
                  <a:solidFill>
                    <a:srgbClr val="1D9E75"/>
                  </a:solidFill>
                </a:rPr>
                <a:t>Training Set          : 1,000 rows</a:t>
              </a:r>
            </a:p>
            <a:p>
              <a:r>
                <a:rPr lang="en-US" dirty="0">
                  <a:solidFill>
                    <a:srgbClr val="1D9E75"/>
                  </a:solidFill>
                </a:rPr>
                <a:t>Test Set                  : 251 rows</a:t>
              </a:r>
            </a:p>
            <a:p>
              <a:r>
                <a:rPr lang="en-US" dirty="0">
                  <a:solidFill>
                    <a:srgbClr val="1D9E75"/>
                  </a:solidFill>
                </a:rPr>
                <a:t>Random State    : 42</a:t>
              </a:r>
            </a:p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42785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7CE06F-DF98-F9B8-B529-4609CBF6E26D}"/>
              </a:ext>
            </a:extLst>
          </p:cNvPr>
          <p:cNvSpPr/>
          <p:nvPr/>
        </p:nvSpPr>
        <p:spPr>
          <a:xfrm>
            <a:off x="560439" y="481780"/>
            <a:ext cx="1130709" cy="58994"/>
          </a:xfrm>
          <a:prstGeom prst="roundRect">
            <a:avLst/>
          </a:prstGeom>
          <a:solidFill>
            <a:srgbClr val="3C348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2CBE5-79B6-BA6C-C1DF-9F32777DF963}"/>
              </a:ext>
            </a:extLst>
          </p:cNvPr>
          <p:cNvSpPr txBox="1"/>
          <p:nvPr/>
        </p:nvSpPr>
        <p:spPr>
          <a:xfrm>
            <a:off x="4119716" y="1340199"/>
            <a:ext cx="3952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F77DD"/>
                </a:solidFill>
              </a:rPr>
              <a:t>MODEL ACCURACY</a:t>
            </a:r>
            <a:endParaRPr lang="en-IN" sz="2000" dirty="0">
              <a:solidFill>
                <a:srgbClr val="7F77DD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EA3C1-8EC4-D429-2A96-7E20D6121D8F}"/>
              </a:ext>
            </a:extLst>
          </p:cNvPr>
          <p:cNvSpPr txBox="1"/>
          <p:nvPr/>
        </p:nvSpPr>
        <p:spPr>
          <a:xfrm>
            <a:off x="3854244" y="1730476"/>
            <a:ext cx="44835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3C3489"/>
                </a:solidFill>
              </a:rPr>
              <a:t>81.27%</a:t>
            </a:r>
            <a:endParaRPr lang="en-IN" sz="6600" dirty="0">
              <a:solidFill>
                <a:srgbClr val="3C34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8BCFB-254B-3456-58E6-058A461B15A4}"/>
              </a:ext>
            </a:extLst>
          </p:cNvPr>
          <p:cNvSpPr txBox="1"/>
          <p:nvPr/>
        </p:nvSpPr>
        <p:spPr>
          <a:xfrm>
            <a:off x="3716591" y="2845254"/>
            <a:ext cx="475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  <a:alpha val="60000"/>
                  </a:schemeClr>
                </a:solidFill>
              </a:rPr>
              <a:t>204 of 251 unseen cases correctly predicted</a:t>
            </a:r>
            <a:endParaRPr lang="en-IN" dirty="0">
              <a:solidFill>
                <a:schemeClr val="bg2">
                  <a:lumMod val="25000"/>
                  <a:alpha val="6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7C1F5B-4A3C-5124-2337-5077B7B18AF7}"/>
              </a:ext>
            </a:extLst>
          </p:cNvPr>
          <p:cNvGrpSpPr/>
          <p:nvPr/>
        </p:nvGrpSpPr>
        <p:grpSpPr>
          <a:xfrm>
            <a:off x="1809133" y="3643415"/>
            <a:ext cx="3814916" cy="658761"/>
            <a:chOff x="1445342" y="3913239"/>
            <a:chExt cx="3814916" cy="658761"/>
          </a:xfrm>
        </p:grpSpPr>
        <p:sp>
          <p:nvSpPr>
            <p:cNvPr id="8" name="Flowchart: Terminator 7">
              <a:extLst>
                <a:ext uri="{FF2B5EF4-FFF2-40B4-BE49-F238E27FC236}">
                  <a16:creationId xmlns:a16="http://schemas.microsoft.com/office/drawing/2014/main" id="{2DF67B18-F9E4-8307-545B-4C6BBD31F2AB}"/>
                </a:ext>
              </a:extLst>
            </p:cNvPr>
            <p:cNvSpPr/>
            <p:nvPr/>
          </p:nvSpPr>
          <p:spPr>
            <a:xfrm>
              <a:off x="1445342" y="3913239"/>
              <a:ext cx="3814916" cy="658761"/>
            </a:xfrm>
            <a:prstGeom prst="flowChartTerminator">
              <a:avLst/>
            </a:prstGeom>
            <a:solidFill>
              <a:srgbClr val="E1F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8AF2F0-2097-7C8C-F8D2-59EF7B0EF82A}"/>
                </a:ext>
              </a:extLst>
            </p:cNvPr>
            <p:cNvSpPr txBox="1"/>
            <p:nvPr/>
          </p:nvSpPr>
          <p:spPr>
            <a:xfrm>
              <a:off x="1524000" y="4041058"/>
              <a:ext cx="373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1D9E75"/>
                  </a:solidFill>
                </a:rPr>
                <a:t>+31 points above random guessing</a:t>
              </a:r>
              <a:endParaRPr lang="en-IN" dirty="0">
                <a:solidFill>
                  <a:srgbClr val="1D9E75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A5C1A7-F4A3-23EF-D9D5-A412B35AEAC0}"/>
              </a:ext>
            </a:extLst>
          </p:cNvPr>
          <p:cNvGrpSpPr/>
          <p:nvPr/>
        </p:nvGrpSpPr>
        <p:grpSpPr>
          <a:xfrm>
            <a:off x="6095997" y="3616687"/>
            <a:ext cx="3510115" cy="678426"/>
            <a:chOff x="7187382" y="4387956"/>
            <a:chExt cx="3510115" cy="678426"/>
          </a:xfrm>
        </p:grpSpPr>
        <p:sp>
          <p:nvSpPr>
            <p:cNvPr id="11" name="Flowchart: Terminator 10">
              <a:extLst>
                <a:ext uri="{FF2B5EF4-FFF2-40B4-BE49-F238E27FC236}">
                  <a16:creationId xmlns:a16="http://schemas.microsoft.com/office/drawing/2014/main" id="{FD6B85F6-E0FA-27E7-B9D5-A6E614E50DF7}"/>
                </a:ext>
              </a:extLst>
            </p:cNvPr>
            <p:cNvSpPr/>
            <p:nvPr/>
          </p:nvSpPr>
          <p:spPr>
            <a:xfrm>
              <a:off x="7187382" y="4387956"/>
              <a:ext cx="3411793" cy="678426"/>
            </a:xfrm>
            <a:prstGeom prst="flowChartTerminator">
              <a:avLst/>
            </a:prstGeom>
            <a:solidFill>
              <a:srgbClr val="AFA9E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359A5C-3FED-DC01-57EA-85AED8697120}"/>
                </a:ext>
              </a:extLst>
            </p:cNvPr>
            <p:cNvSpPr txBox="1"/>
            <p:nvPr/>
          </p:nvSpPr>
          <p:spPr>
            <a:xfrm>
              <a:off x="7482348" y="4542503"/>
              <a:ext cx="3215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F77DD"/>
                  </a:solidFill>
                </a:rPr>
                <a:t>Tested on balanced dataset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1766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47895E-24CE-CC2F-AA75-B3C058C8E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2" y="1333446"/>
            <a:ext cx="6110977" cy="44074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1C127E-BDD4-BF4D-74F3-780CE0D548FB}"/>
              </a:ext>
            </a:extLst>
          </p:cNvPr>
          <p:cNvSpPr txBox="1"/>
          <p:nvPr/>
        </p:nvSpPr>
        <p:spPr>
          <a:xfrm>
            <a:off x="570270" y="560439"/>
            <a:ext cx="3411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CONFUSION MATRIX RESULT</a:t>
            </a:r>
            <a:endParaRPr lang="en-IN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FF21A5-27FF-E952-0A4F-2F5B247A1C58}"/>
              </a:ext>
            </a:extLst>
          </p:cNvPr>
          <p:cNvSpPr/>
          <p:nvPr/>
        </p:nvSpPr>
        <p:spPr>
          <a:xfrm>
            <a:off x="727587" y="373625"/>
            <a:ext cx="1440000" cy="28800"/>
          </a:xfrm>
          <a:prstGeom prst="roundRect">
            <a:avLst/>
          </a:prstGeom>
          <a:ln w="38100">
            <a:solidFill>
              <a:srgbClr val="3C34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CA6B1F-0A18-ED5D-A5A6-6A5E04679849}"/>
              </a:ext>
            </a:extLst>
          </p:cNvPr>
          <p:cNvGrpSpPr/>
          <p:nvPr/>
        </p:nvGrpSpPr>
        <p:grpSpPr>
          <a:xfrm>
            <a:off x="7364361" y="1669960"/>
            <a:ext cx="3116826" cy="1229032"/>
            <a:chOff x="7364361" y="1622945"/>
            <a:chExt cx="3116826" cy="122903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ED424FD-BDA9-79D9-F3BE-EF82FE92E54F}"/>
                </a:ext>
              </a:extLst>
            </p:cNvPr>
            <p:cNvSpPr/>
            <p:nvPr/>
          </p:nvSpPr>
          <p:spPr>
            <a:xfrm>
              <a:off x="7364361" y="1622945"/>
              <a:ext cx="3116826" cy="1229032"/>
            </a:xfrm>
            <a:prstGeom prst="roundRect">
              <a:avLst/>
            </a:prstGeom>
            <a:solidFill>
              <a:srgbClr val="AFA9E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6183B4-9788-57AE-A6A3-D07566E0AA29}"/>
                </a:ext>
              </a:extLst>
            </p:cNvPr>
            <p:cNvSpPr txBox="1"/>
            <p:nvPr/>
          </p:nvSpPr>
          <p:spPr>
            <a:xfrm>
              <a:off x="7580671" y="1868129"/>
              <a:ext cx="26842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F77DD"/>
                  </a:solidFill>
                </a:rPr>
                <a:t>CORRECT PREDICTIONS</a:t>
              </a:r>
            </a:p>
            <a:p>
              <a:r>
                <a:rPr lang="en-US" sz="2400" dirty="0">
                  <a:solidFill>
                    <a:srgbClr val="3C3489"/>
                  </a:solidFill>
                </a:rPr>
                <a:t>204/251</a:t>
              </a:r>
              <a:endParaRPr lang="en-IN" sz="2400" dirty="0">
                <a:solidFill>
                  <a:srgbClr val="3C3489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A958C-0A1F-40EE-8D16-803C3E7144F8}"/>
              </a:ext>
            </a:extLst>
          </p:cNvPr>
          <p:cNvGrpSpPr/>
          <p:nvPr/>
        </p:nvGrpSpPr>
        <p:grpSpPr>
          <a:xfrm>
            <a:off x="7364361" y="3682803"/>
            <a:ext cx="3116826" cy="1415845"/>
            <a:chOff x="7364361" y="3004377"/>
            <a:chExt cx="3116826" cy="141584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C604A0D-35EA-0FF8-A084-9575FCAEBFF4}"/>
                </a:ext>
              </a:extLst>
            </p:cNvPr>
            <p:cNvSpPr/>
            <p:nvPr/>
          </p:nvSpPr>
          <p:spPr>
            <a:xfrm>
              <a:off x="7364361" y="3004377"/>
              <a:ext cx="3116826" cy="1415845"/>
            </a:xfrm>
            <a:prstGeom prst="roundRect">
              <a:avLst/>
            </a:prstGeom>
            <a:solidFill>
              <a:srgbClr val="FAEEDA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2AF05B-E005-FD92-4FB1-382EDAAF874A}"/>
                </a:ext>
              </a:extLst>
            </p:cNvPr>
            <p:cNvSpPr txBox="1"/>
            <p:nvPr/>
          </p:nvSpPr>
          <p:spPr>
            <a:xfrm>
              <a:off x="7580671" y="3342968"/>
              <a:ext cx="26842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WRONG PREDICTIONS</a:t>
              </a:r>
            </a:p>
            <a:p>
              <a:r>
                <a:rPr lang="en-US" sz="2400" dirty="0">
                  <a:solidFill>
                    <a:srgbClr val="633806"/>
                  </a:solidFill>
                </a:rPr>
                <a:t>47/251</a:t>
              </a:r>
              <a:endParaRPr lang="en-IN" sz="2400" dirty="0">
                <a:solidFill>
                  <a:srgbClr val="63380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3774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BE0F03-99F2-0457-E45C-2F7F996FA968}"/>
              </a:ext>
            </a:extLst>
          </p:cNvPr>
          <p:cNvSpPr/>
          <p:nvPr/>
        </p:nvSpPr>
        <p:spPr>
          <a:xfrm flipV="1">
            <a:off x="678426" y="406565"/>
            <a:ext cx="1238864" cy="45719"/>
          </a:xfrm>
          <a:prstGeom prst="roundRect">
            <a:avLst/>
          </a:prstGeom>
          <a:solidFill>
            <a:srgbClr val="3C3489"/>
          </a:solidFill>
          <a:ln>
            <a:solidFill>
              <a:srgbClr val="3C34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C2AFF-4BCF-A92A-2365-5B01C66C18F3}"/>
              </a:ext>
            </a:extLst>
          </p:cNvPr>
          <p:cNvSpPr txBox="1"/>
          <p:nvPr/>
        </p:nvSpPr>
        <p:spPr>
          <a:xfrm>
            <a:off x="570271" y="717755"/>
            <a:ext cx="6715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CLASSIFICATION REPORT – WHAT THE METRICS MEAN</a:t>
            </a:r>
            <a:endParaRPr lang="en-IN" sz="2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7CAC6B-8AEF-3777-6D36-CB05CC157215}"/>
              </a:ext>
            </a:extLst>
          </p:cNvPr>
          <p:cNvGrpSpPr/>
          <p:nvPr/>
        </p:nvGrpSpPr>
        <p:grpSpPr>
          <a:xfrm>
            <a:off x="471949" y="1769806"/>
            <a:ext cx="5299587" cy="1396181"/>
            <a:chOff x="344129" y="1769806"/>
            <a:chExt cx="5299587" cy="139618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30F305-460A-351D-2E7A-3B1C80BE49D8}"/>
                </a:ext>
              </a:extLst>
            </p:cNvPr>
            <p:cNvSpPr/>
            <p:nvPr/>
          </p:nvSpPr>
          <p:spPr>
            <a:xfrm>
              <a:off x="344129" y="1848465"/>
              <a:ext cx="5299587" cy="1317522"/>
            </a:xfrm>
            <a:prstGeom prst="roundRect">
              <a:avLst/>
            </a:prstGeom>
            <a:solidFill>
              <a:srgbClr val="AFA9E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EA2182-69C6-ED33-CCD0-D564D258853B}"/>
                </a:ext>
              </a:extLst>
            </p:cNvPr>
            <p:cNvSpPr txBox="1"/>
            <p:nvPr/>
          </p:nvSpPr>
          <p:spPr>
            <a:xfrm>
              <a:off x="570271" y="1769806"/>
              <a:ext cx="4798142" cy="1125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dirty="0">
                  <a:solidFill>
                    <a:srgbClr val="3C3489"/>
                  </a:solidFill>
                </a:rPr>
                <a:t>No Treatment Predicted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solidFill>
                    <a:srgbClr val="7F77DD"/>
                  </a:solidFill>
                </a:rPr>
                <a:t>Precision: 0.84 • Recall: 0.72 • F1-Score: 0.78</a:t>
              </a:r>
              <a:endParaRPr lang="en-IN" dirty="0">
                <a:solidFill>
                  <a:srgbClr val="7F77DD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9B509B-8DAE-22B8-A16F-C62FF0A773E2}"/>
              </a:ext>
            </a:extLst>
          </p:cNvPr>
          <p:cNvGrpSpPr/>
          <p:nvPr/>
        </p:nvGrpSpPr>
        <p:grpSpPr>
          <a:xfrm>
            <a:off x="6223819" y="1838632"/>
            <a:ext cx="5397910" cy="1327355"/>
            <a:chOff x="6238570" y="1877962"/>
            <a:chExt cx="5397910" cy="132735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03B4522-B1CA-CE4C-AD30-CB3B236C4359}"/>
                </a:ext>
              </a:extLst>
            </p:cNvPr>
            <p:cNvSpPr/>
            <p:nvPr/>
          </p:nvSpPr>
          <p:spPr>
            <a:xfrm>
              <a:off x="6238570" y="1887795"/>
              <a:ext cx="5397910" cy="1317522"/>
            </a:xfrm>
            <a:prstGeom prst="roundRect">
              <a:avLst/>
            </a:prstGeom>
            <a:solidFill>
              <a:srgbClr val="E1F5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9ECA47-36F9-FBFE-AFD0-995E30E2B51E}"/>
                </a:ext>
              </a:extLst>
            </p:cNvPr>
            <p:cNvSpPr txBox="1"/>
            <p:nvPr/>
          </p:nvSpPr>
          <p:spPr>
            <a:xfrm>
              <a:off x="6548286" y="1877962"/>
              <a:ext cx="4778478" cy="1125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dirty="0">
                  <a:solidFill>
                    <a:schemeClr val="accent3">
                      <a:lumMod val="75000"/>
                    </a:schemeClr>
                  </a:solidFill>
                </a:rPr>
                <a:t>Treatment Predicted</a:t>
              </a:r>
            </a:p>
            <a:p>
              <a:pPr>
                <a:lnSpc>
                  <a:spcPct val="200000"/>
                </a:lnSpc>
              </a:pPr>
              <a:r>
                <a:rPr lang="en-US" dirty="0">
                  <a:solidFill>
                    <a:srgbClr val="1D9E75"/>
                  </a:solidFill>
                </a:rPr>
                <a:t>Precision: 0.79 • Recall: 0.89 • F1-Score: 0.84</a:t>
              </a:r>
              <a:endParaRPr lang="en-IN" dirty="0">
                <a:solidFill>
                  <a:srgbClr val="1D9E75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87EA3A-58BE-24FF-FA5E-258EC2AE2FE2}"/>
              </a:ext>
            </a:extLst>
          </p:cNvPr>
          <p:cNvGrpSpPr/>
          <p:nvPr/>
        </p:nvGrpSpPr>
        <p:grpSpPr>
          <a:xfrm>
            <a:off x="3313471" y="3633417"/>
            <a:ext cx="5053782" cy="1317522"/>
            <a:chOff x="3313471" y="3633417"/>
            <a:chExt cx="5053782" cy="131752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4CC03DB-8311-76A2-6613-0EE94E085589}"/>
                </a:ext>
              </a:extLst>
            </p:cNvPr>
            <p:cNvSpPr/>
            <p:nvPr/>
          </p:nvSpPr>
          <p:spPr>
            <a:xfrm>
              <a:off x="3313471" y="3633417"/>
              <a:ext cx="5053782" cy="1317522"/>
            </a:xfrm>
            <a:prstGeom prst="roundRect">
              <a:avLst/>
            </a:prstGeom>
            <a:solidFill>
              <a:srgbClr val="FAEEDA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BB50B9-3EBA-4A31-82AC-9648F5B6CA50}"/>
                </a:ext>
              </a:extLst>
            </p:cNvPr>
            <p:cNvSpPr txBox="1"/>
            <p:nvPr/>
          </p:nvSpPr>
          <p:spPr>
            <a:xfrm>
              <a:off x="3431459" y="3692014"/>
              <a:ext cx="49357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KEY INSIGHT:</a:t>
              </a:r>
            </a:p>
            <a:p>
              <a:r>
                <a:rPr lang="en-US" dirty="0">
                  <a:solidFill>
                    <a:srgbClr val="633806"/>
                  </a:solidFill>
                </a:rPr>
                <a:t>The model is stronger at identifying people who DO seek treatment (F1-Score=0.84) than those who don’t.</a:t>
              </a:r>
              <a:endParaRPr lang="en-IN" dirty="0">
                <a:solidFill>
                  <a:srgbClr val="633806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BCB409-FED8-C0DB-A924-88B794DC2C27}"/>
              </a:ext>
            </a:extLst>
          </p:cNvPr>
          <p:cNvGrpSpPr/>
          <p:nvPr/>
        </p:nvGrpSpPr>
        <p:grpSpPr>
          <a:xfrm>
            <a:off x="2433483" y="5411115"/>
            <a:ext cx="7325033" cy="965035"/>
            <a:chOff x="1730477" y="5435202"/>
            <a:chExt cx="7325033" cy="96503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01178F0-F521-EF3E-F594-F2330B79846F}"/>
                </a:ext>
              </a:extLst>
            </p:cNvPr>
            <p:cNvSpPr/>
            <p:nvPr/>
          </p:nvSpPr>
          <p:spPr>
            <a:xfrm>
              <a:off x="1730477" y="5435202"/>
              <a:ext cx="7138220" cy="965035"/>
            </a:xfrm>
            <a:prstGeom prst="roundRect">
              <a:avLst/>
            </a:prstGeom>
            <a:solidFill>
              <a:srgbClr val="3C3489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205741-D9D9-80A6-23C3-6A8B9D64E760}"/>
                </a:ext>
              </a:extLst>
            </p:cNvPr>
            <p:cNvSpPr txBox="1"/>
            <p:nvPr/>
          </p:nvSpPr>
          <p:spPr>
            <a:xfrm>
              <a:off x="1917290" y="5594555"/>
              <a:ext cx="7138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3C3489"/>
                  </a:solidFill>
                </a:rPr>
                <a:t>The model catches 89% of all actual treatment-seekers</a:t>
              </a:r>
            </a:p>
            <a:p>
              <a:r>
                <a:rPr lang="en-US" dirty="0">
                  <a:solidFill>
                    <a:schemeClr val="bg2">
                      <a:lumMod val="50000"/>
                    </a:schemeClr>
                  </a:solidFill>
                </a:rPr>
                <a:t>Recall for class 1=0.89 – the most important metric for this use case</a:t>
              </a:r>
              <a:endParaRPr lang="en-IN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8443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4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>
            <a:extLst>
              <a:ext uri="{FF2B5EF4-FFF2-40B4-BE49-F238E27FC236}">
                <a16:creationId xmlns:a16="http://schemas.microsoft.com/office/drawing/2014/main" id="{B5DD7CD4-F511-B996-56B1-12ACD19B715D}"/>
              </a:ext>
            </a:extLst>
          </p:cNvPr>
          <p:cNvSpPr/>
          <p:nvPr/>
        </p:nvSpPr>
        <p:spPr>
          <a:xfrm>
            <a:off x="9429136" y="0"/>
            <a:ext cx="2762864" cy="2703871"/>
          </a:xfrm>
          <a:prstGeom prst="teardrop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0F59B-6A3B-7AA4-5202-5A62C25EB03A}"/>
              </a:ext>
            </a:extLst>
          </p:cNvPr>
          <p:cNvSpPr txBox="1"/>
          <p:nvPr/>
        </p:nvSpPr>
        <p:spPr>
          <a:xfrm>
            <a:off x="4267199" y="951825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AFA9EC"/>
                </a:solidFill>
              </a:rPr>
              <a:t>LIVE DEMONSTRATION</a:t>
            </a:r>
            <a:endParaRPr lang="en-IN" sz="2000" b="1" dirty="0">
              <a:solidFill>
                <a:srgbClr val="AFA9E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364A4-2563-A183-0A53-6D7BFACEFB15}"/>
              </a:ext>
            </a:extLst>
          </p:cNvPr>
          <p:cNvSpPr txBox="1"/>
          <p:nvPr/>
        </p:nvSpPr>
        <p:spPr>
          <a:xfrm>
            <a:off x="3839496" y="1503542"/>
            <a:ext cx="4513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Predicting treatment-seeking in real time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98798-F064-8B6E-B2CD-706FEF4B321E}"/>
              </a:ext>
            </a:extLst>
          </p:cNvPr>
          <p:cNvSpPr txBox="1"/>
          <p:nvPr/>
        </p:nvSpPr>
        <p:spPr>
          <a:xfrm>
            <a:off x="3918154" y="2949677"/>
            <a:ext cx="4355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Input: 22 workplace survey responses</a:t>
            </a:r>
            <a:endParaRPr lang="en-IN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27121-9286-E4C1-CC90-FBC1E8C2F6D2}"/>
              </a:ext>
            </a:extLst>
          </p:cNvPr>
          <p:cNvSpPr txBox="1"/>
          <p:nvPr/>
        </p:nvSpPr>
        <p:spPr>
          <a:xfrm>
            <a:off x="3839494" y="3319009"/>
            <a:ext cx="451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alpha val="50000"/>
                  </a:schemeClr>
                </a:solidFill>
              </a:rPr>
              <a:t>Output: Likely/Unlikely to seek treatment</a:t>
            </a:r>
            <a:endParaRPr lang="en-IN" dirty="0">
              <a:solidFill>
                <a:schemeClr val="bg1">
                  <a:alpha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37F869-EF47-0644-09E1-DC6983779A72}"/>
              </a:ext>
            </a:extLst>
          </p:cNvPr>
          <p:cNvGrpSpPr/>
          <p:nvPr/>
        </p:nvGrpSpPr>
        <p:grpSpPr>
          <a:xfrm>
            <a:off x="4104964" y="4303479"/>
            <a:ext cx="3982065" cy="789631"/>
            <a:chOff x="4011561" y="4303479"/>
            <a:chExt cx="3982065" cy="789631"/>
          </a:xfrm>
        </p:grpSpPr>
        <p:sp>
          <p:nvSpPr>
            <p:cNvPr id="10" name="Flowchart: Terminator 9">
              <a:extLst>
                <a:ext uri="{FF2B5EF4-FFF2-40B4-BE49-F238E27FC236}">
                  <a16:creationId xmlns:a16="http://schemas.microsoft.com/office/drawing/2014/main" id="{0EDDAF89-00A5-9E4D-A16C-8FD12BF0A679}"/>
                </a:ext>
              </a:extLst>
            </p:cNvPr>
            <p:cNvSpPr/>
            <p:nvPr/>
          </p:nvSpPr>
          <p:spPr>
            <a:xfrm>
              <a:off x="4011561" y="4303479"/>
              <a:ext cx="3982065" cy="789631"/>
            </a:xfrm>
            <a:prstGeom prst="flowChartTerminator">
              <a:avLst/>
            </a:prstGeom>
            <a:solidFill>
              <a:schemeClr val="accent1">
                <a:alpha val="0"/>
              </a:schemeClr>
            </a:solidFill>
            <a:ln>
              <a:solidFill>
                <a:srgbClr val="E1F5EE">
                  <a:alpha val="4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403FCA-1595-8368-7410-0036728F4FB2}"/>
                </a:ext>
              </a:extLst>
            </p:cNvPr>
            <p:cNvSpPr txBox="1"/>
            <p:nvPr/>
          </p:nvSpPr>
          <p:spPr>
            <a:xfrm>
              <a:off x="4011561" y="4503174"/>
              <a:ext cx="39820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alpha val="70000"/>
                    </a:schemeClr>
                  </a:solidFill>
                </a:rPr>
                <a:t>Switching to Google Colab →</a:t>
              </a:r>
              <a:endParaRPr lang="en-IN" sz="2000" dirty="0">
                <a:solidFill>
                  <a:schemeClr val="bg1">
                    <a:alpha val="7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279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4499951-610A-C55D-F0AA-61D72FD7E007}"/>
              </a:ext>
            </a:extLst>
          </p:cNvPr>
          <p:cNvSpPr/>
          <p:nvPr/>
        </p:nvSpPr>
        <p:spPr>
          <a:xfrm>
            <a:off x="707923" y="521109"/>
            <a:ext cx="1297858" cy="45719"/>
          </a:xfrm>
          <a:prstGeom prst="roundRect">
            <a:avLst/>
          </a:prstGeom>
          <a:solidFill>
            <a:srgbClr val="3C3489"/>
          </a:solidFill>
          <a:ln>
            <a:solidFill>
              <a:srgbClr val="3C34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7CD7F-939B-5CA8-A85A-7FC3F642782F}"/>
              </a:ext>
            </a:extLst>
          </p:cNvPr>
          <p:cNvSpPr txBox="1"/>
          <p:nvPr/>
        </p:nvSpPr>
        <p:spPr>
          <a:xfrm>
            <a:off x="580103" y="825910"/>
            <a:ext cx="1995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CONCLUSIONS</a:t>
            </a:r>
            <a:endParaRPr lang="en-IN" sz="2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B0ED98-C532-D1E1-C308-31569D70F055}"/>
              </a:ext>
            </a:extLst>
          </p:cNvPr>
          <p:cNvGrpSpPr/>
          <p:nvPr/>
        </p:nvGrpSpPr>
        <p:grpSpPr>
          <a:xfrm>
            <a:off x="958644" y="2114367"/>
            <a:ext cx="4454013" cy="3639373"/>
            <a:chOff x="471948" y="1136811"/>
            <a:chExt cx="4454013" cy="363937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B777C85-856B-F771-DB2D-DE311C8CE0B0}"/>
                </a:ext>
              </a:extLst>
            </p:cNvPr>
            <p:cNvSpPr/>
            <p:nvPr/>
          </p:nvSpPr>
          <p:spPr>
            <a:xfrm>
              <a:off x="471948" y="1136811"/>
              <a:ext cx="4454013" cy="3483632"/>
            </a:xfrm>
            <a:prstGeom prst="roundRect">
              <a:avLst/>
            </a:prstGeom>
            <a:solidFill>
              <a:srgbClr val="5DCAA5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EEA4A5D-0484-77BD-2690-99B1F61E707B}"/>
                </a:ext>
              </a:extLst>
            </p:cNvPr>
            <p:cNvSpPr txBox="1"/>
            <p:nvPr/>
          </p:nvSpPr>
          <p:spPr>
            <a:xfrm>
              <a:off x="580103" y="1359864"/>
              <a:ext cx="4345858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1D9E75"/>
                  </a:solidFill>
                </a:rPr>
                <a:t>A Random Forest Model can predict mental health treatment-seeking with 81.27% accuracy using only workplace survey data.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1D9E75"/>
                  </a:solidFill>
                </a:rPr>
                <a:t>The dataset required significant cleaning – particularly Age &amp; Gender – before modelling.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1D9E75"/>
                  </a:solidFill>
                </a:rPr>
                <a:t>The model is more sensitive to true cases (89% Recall), making it appropriate for supportive, not punitive use.</a:t>
              </a:r>
            </a:p>
            <a:p>
              <a:endParaRPr lang="en-IN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BE54E79-D731-6B76-205F-C0BBBA4C748A}"/>
              </a:ext>
            </a:extLst>
          </p:cNvPr>
          <p:cNvGrpSpPr/>
          <p:nvPr/>
        </p:nvGrpSpPr>
        <p:grpSpPr>
          <a:xfrm>
            <a:off x="6096000" y="1485102"/>
            <a:ext cx="4591664" cy="2539735"/>
            <a:chOff x="5702710" y="1145105"/>
            <a:chExt cx="4591664" cy="253973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9C570C2-D820-5541-FD52-8B02A5040039}"/>
                </a:ext>
              </a:extLst>
            </p:cNvPr>
            <p:cNvSpPr/>
            <p:nvPr/>
          </p:nvSpPr>
          <p:spPr>
            <a:xfrm>
              <a:off x="5702710" y="1145105"/>
              <a:ext cx="4591664" cy="2539735"/>
            </a:xfrm>
            <a:prstGeom prst="roundRect">
              <a:avLst/>
            </a:prstGeom>
            <a:solidFill>
              <a:srgbClr val="FAEEDA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6C6136-E6E6-57F1-B9E5-49FB68395BD9}"/>
                </a:ext>
              </a:extLst>
            </p:cNvPr>
            <p:cNvSpPr txBox="1"/>
            <p:nvPr/>
          </p:nvSpPr>
          <p:spPr>
            <a:xfrm>
              <a:off x="5879689" y="1376516"/>
              <a:ext cx="423770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Limitations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633806"/>
                  </a:solidFill>
                </a:rPr>
                <a:t>Survey data is self-reported – subject to bias.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633806"/>
                  </a:solidFill>
                </a:rPr>
                <a:t>2014 data – workplace mental health culture has evolved.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633806"/>
                  </a:solidFill>
                </a:rPr>
                <a:t>Model should support human decisions, not replace them.</a:t>
              </a:r>
            </a:p>
            <a:p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3D2898-727D-7BB1-C395-1296417AA2A3}"/>
              </a:ext>
            </a:extLst>
          </p:cNvPr>
          <p:cNvGrpSpPr/>
          <p:nvPr/>
        </p:nvGrpSpPr>
        <p:grpSpPr>
          <a:xfrm>
            <a:off x="6096000" y="4502183"/>
            <a:ext cx="4807975" cy="1741429"/>
            <a:chOff x="5378244" y="4262968"/>
            <a:chExt cx="4807975" cy="174142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D2C7F03-4BEA-B445-0C1B-788498D94BB7}"/>
                </a:ext>
              </a:extLst>
            </p:cNvPr>
            <p:cNvSpPr/>
            <p:nvPr/>
          </p:nvSpPr>
          <p:spPr>
            <a:xfrm>
              <a:off x="5378244" y="4262968"/>
              <a:ext cx="4807975" cy="1741429"/>
            </a:xfrm>
            <a:prstGeom prst="roundRect">
              <a:avLst/>
            </a:prstGeom>
            <a:solidFill>
              <a:srgbClr val="AFA9E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C57761-62E9-DABD-098B-218A9F5E98DD}"/>
                </a:ext>
              </a:extLst>
            </p:cNvPr>
            <p:cNvSpPr txBox="1"/>
            <p:nvPr/>
          </p:nvSpPr>
          <p:spPr>
            <a:xfrm>
              <a:off x="5535560" y="4395019"/>
              <a:ext cx="447367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3C3489"/>
                  </a:solidFill>
                </a:rPr>
                <a:t>Future Scope</a:t>
              </a:r>
              <a:endParaRPr lang="en-IN" dirty="0">
                <a:solidFill>
                  <a:srgbClr val="3C3489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7F77DD"/>
                  </a:solidFill>
                </a:rPr>
                <a:t>Test on more recent OSMI survey years.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7F77DD"/>
                  </a:solidFill>
                </a:rPr>
                <a:t>Incorporate additional workplace policy features.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7F77DD"/>
                  </a:solidFill>
                </a:rPr>
                <a:t>Deploy as a HR support screening tool.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683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4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rdrop 1">
            <a:extLst>
              <a:ext uri="{FF2B5EF4-FFF2-40B4-BE49-F238E27FC236}">
                <a16:creationId xmlns:a16="http://schemas.microsoft.com/office/drawing/2014/main" id="{C3B95BDE-218D-6429-E311-8710AD608FBB}"/>
              </a:ext>
            </a:extLst>
          </p:cNvPr>
          <p:cNvSpPr/>
          <p:nvPr/>
        </p:nvSpPr>
        <p:spPr>
          <a:xfrm>
            <a:off x="9684774" y="0"/>
            <a:ext cx="2507226" cy="2566219"/>
          </a:xfrm>
          <a:prstGeom prst="teardrop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10137-1ABC-1C25-054B-65E9B4EFED38}"/>
              </a:ext>
            </a:extLst>
          </p:cNvPr>
          <p:cNvSpPr txBox="1"/>
          <p:nvPr/>
        </p:nvSpPr>
        <p:spPr>
          <a:xfrm>
            <a:off x="3574025" y="1582994"/>
            <a:ext cx="50439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THANK YOU</a:t>
            </a:r>
            <a:endParaRPr lang="en-IN" sz="6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427C8-D307-12A3-5323-8985A3B71F51}"/>
              </a:ext>
            </a:extLst>
          </p:cNvPr>
          <p:cNvSpPr txBox="1"/>
          <p:nvPr/>
        </p:nvSpPr>
        <p:spPr>
          <a:xfrm>
            <a:off x="4021393" y="2967335"/>
            <a:ext cx="4149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alpha val="70000"/>
                  </a:schemeClr>
                </a:solidFill>
              </a:rPr>
              <a:t>Presented By: ABHIN ASHOK</a:t>
            </a:r>
            <a:endParaRPr lang="en-IN" sz="2400" dirty="0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765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662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 Ashok</dc:creator>
  <cp:lastModifiedBy>ABHIN ASHOK</cp:lastModifiedBy>
  <cp:revision>4</cp:revision>
  <dcterms:created xsi:type="dcterms:W3CDTF">2026-04-24T06:13:59Z</dcterms:created>
  <dcterms:modified xsi:type="dcterms:W3CDTF">2026-05-08T13:58:19Z</dcterms:modified>
</cp:coreProperties>
</file>